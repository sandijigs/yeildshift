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0052FF"/>
                </a:solidFill>
              </a:defRPr>
            </a:pPr>
            <a:r>
              <a:rPr>
                <a:solidFill>
                  <a:srgbClr val="141414"/>
                </a:solidFill>
              </a:rPr>
              <a:t>YieldShift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rPr>
                <a:solidFill>
                  <a:srgbClr val="141414"/>
                </a:solidFill>
              </a:rPr>
              <a:t>Set-and-Forget Yield for Uniswap v4</a:t>
            </a:r>
          </a:p>
          <a:p>
            <a:r>
              <a:rPr>
                <a:solidFill>
                  <a:srgbClr val="141414"/>
                </a:solidFill>
              </a:rPr>
              <a:t>Hookathon 2025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rPr>
                <a:solidFill>
                  <a:srgbClr val="141414"/>
                </a:solidFill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7315200" cy="731520"/>
          </a:xfrm>
          <a:prstGeom prst="roundRect">
            <a:avLst/>
          </a:prstGeom>
          <a:solidFill>
            <a:srgbClr val="FF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LPs only earn swap fees (0.3–1%)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7315200" cy="731520"/>
          </a:xfrm>
          <a:prstGeom prst="roundRect">
            <a:avLst/>
          </a:prstGeom>
          <a:solidFill>
            <a:srgbClr val="FF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Idle capital produces 0% yield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83280"/>
            <a:ext cx="7315200" cy="731520"/>
          </a:xfrm>
          <a:prstGeom prst="roundRect">
            <a:avLst/>
          </a:prstGeom>
          <a:solidFill>
            <a:srgbClr val="FF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LPs miss 10%+ extra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rPr>
                <a:solidFill>
                  <a:srgbClr val="141414"/>
                </a:solidFill>
              </a:rPr>
              <a:t>The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7315200" cy="731520"/>
          </a:xfrm>
          <a:prstGeom prst="roundRect">
            <a:avLst/>
          </a:prstGeom>
          <a:solidFill>
            <a:srgbClr val="C8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Automatic yield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7315200" cy="731520"/>
          </a:xfrm>
          <a:prstGeom prst="roundRect">
            <a:avLst/>
          </a:prstGeom>
          <a:solidFill>
            <a:srgbClr val="C8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3–14% extra APY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7315200" cy="731520"/>
          </a:xfrm>
          <a:prstGeom prst="roundRect">
            <a:avLst/>
          </a:prstGeom>
          <a:solidFill>
            <a:srgbClr val="C8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No staking or wrapper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7315200" cy="731520"/>
          </a:xfrm>
          <a:prstGeom prst="roundRect">
            <a:avLst/>
          </a:prstGeom>
          <a:solidFill>
            <a:srgbClr val="C8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100% liquid positions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46320"/>
            <a:ext cx="7315200" cy="731520"/>
          </a:xfrm>
          <a:prstGeom prst="roundRect">
            <a:avLst/>
          </a:prstGeom>
          <a:solidFill>
            <a:srgbClr val="C8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Powered by EigenLayer + lending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rPr>
                <a:solidFill>
                  <a:srgbClr val="141414"/>
                </a:solidFill>
              </a:rPr>
              <a:t>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011680" cy="9144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User Swaps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60320" y="2148840"/>
            <a:ext cx="64008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011680" cy="9144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beforeSwap Hook</a:t>
            </a:r>
          </a:p>
          <a:p>
            <a:r>
              <a:rPr>
                <a:solidFill>
                  <a:srgbClr val="141414"/>
                </a:solidFill>
              </a:rPr>
              <a:t>- Route idle capital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303520" y="2148840"/>
            <a:ext cx="64008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2011680" cy="9144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Swap Executes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828800"/>
            <a:ext cx="2011680" cy="9144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>
                <a:solidFill>
                  <a:srgbClr val="141414"/>
                </a:solidFill>
              </a:rPr>
              <a:t>afterSwap Hook</a:t>
            </a:r>
          </a:p>
          <a:p>
            <a:r>
              <a:rPr>
                <a:solidFill>
                  <a:srgbClr val="141414"/>
                </a:solidFill>
              </a:rPr>
              <a:t>- Harvest + Compound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141414"/>
                </a:solidFill>
              </a:defRPr>
            </a:pPr>
            <a:r>
              <a:t>beforeSwap Hook – Smart Routing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114800" cy="73152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Aave v3 – 5.2%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4114800" cy="73152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Compound v3 – 3.8%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4114800" cy="73152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Morpho Blue – 10.5%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4114800" cy="73152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EigenLayer weETH – 7.5%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4114800" cy="73152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EigenLayer ezETH – 8.5%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188720"/>
            <a:ext cx="3657600" cy="1371600"/>
          </a:xfrm>
          <a:prstGeom prst="roundRect">
            <a:avLst/>
          </a:prstGeom>
          <a:solidFill>
            <a:srgbClr val="D2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IF best_APY ≥ threshold (2%)</a:t>
            </a:r>
          </a:p>
          <a:p>
            <a:r>
              <a:t>THEN shift 20% idle capital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141414"/>
                </a:solidFill>
              </a:defRPr>
            </a:pPr>
            <a:r>
              <a:t>afterSwap Hook – Harvest &amp; Compound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286000" cy="6400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Swap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286000" cy="6400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Swap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2286000" cy="6400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Swap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2286000" cy="6400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Swap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480560"/>
            <a:ext cx="2286000" cy="6400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Swap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03520"/>
            <a:ext cx="2286000" cy="6400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Swap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126480"/>
            <a:ext cx="2286000" cy="6400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Swap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949440"/>
            <a:ext cx="2286000" cy="6400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Swap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7772400"/>
            <a:ext cx="2286000" cy="6400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Swap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8595360"/>
            <a:ext cx="2286000" cy="640080"/>
          </a:xfrm>
          <a:prstGeom prst="roundRect">
            <a:avLst/>
          </a:prstGeom>
          <a:solidFill>
            <a:srgbClr val="00C8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Swap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188720"/>
            <a:ext cx="5029200" cy="1828800"/>
          </a:xfrm>
          <a:prstGeom prst="roundRect">
            <a:avLst/>
          </a:prstGeom>
          <a:solidFill>
            <a:srgbClr val="D2FF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Harvested Rewards:</a:t>
            </a:r>
          </a:p>
          <a:p>
            <a:r>
              <a:t>- EigenLayer weETH</a:t>
            </a:r>
          </a:p>
          <a:p>
            <a:r>
              <a:t>- Morpho Blue</a:t>
            </a:r>
          </a:p>
          <a:p>
            <a:r>
              <a:t>- Aave v3</a:t>
            </a:r>
          </a:p>
          <a:p>
            <a:r>
              <a:t>Total example: ~$400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91840"/>
            <a:ext cx="5029200" cy="1188720"/>
          </a:xfrm>
          <a:prstGeom prst="roundRect">
            <a:avLst/>
          </a:prstGeom>
          <a:solidFill>
            <a:srgbClr val="D2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Auto-Compound → Add Liquidity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141414"/>
                </a:solidFill>
              </a:defRPr>
            </a:pPr>
            <a:r>
              <a:t>EigenLayer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743200" cy="10972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weETH (Ether.fi)</a:t>
            </a:r>
          </a:p>
          <a:p>
            <a:r>
              <a:t>7.5% APY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743200" cy="10972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ezETH (Renzo)</a:t>
            </a:r>
          </a:p>
          <a:p>
            <a:r>
              <a:t>8.5% APY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88720"/>
            <a:ext cx="2743200" cy="109728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mETH (Mantle)</a:t>
            </a:r>
          </a:p>
          <a:p>
            <a:r>
              <a:t>6.5% APY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7772400" cy="1371600"/>
          </a:xfrm>
          <a:prstGeom prst="roundRect">
            <a:avLst/>
          </a:prstGeom>
          <a:solidFill>
            <a:srgbClr val="D2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Adapter Features:</a:t>
            </a:r>
          </a:p>
          <a:p>
            <a:r>
              <a:t>- Convert WETH → LRT</a:t>
            </a:r>
          </a:p>
          <a:p>
            <a:r>
              <a:t>- Track exchange rates</a:t>
            </a:r>
          </a:p>
          <a:p>
            <a:r>
              <a:t>- Real-time APY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141414"/>
                </a:solidFill>
              </a:defRPr>
            </a:pPr>
            <a:r>
              <a:t>LP Dashboard Preview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200400" cy="118872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Total APY: 10.2%</a:t>
            </a:r>
          </a:p>
          <a:p>
            <a:r>
              <a:t>• Swap Fees: 2%</a:t>
            </a:r>
          </a:p>
          <a:p>
            <a:r>
              <a:t>• Extra Yield: 8.2%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188720"/>
            <a:ext cx="4297680" cy="2011680"/>
          </a:xfrm>
          <a:prstGeom prst="roundRect">
            <a:avLst/>
          </a:prstGeom>
          <a:solidFill>
            <a:srgbClr val="F0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Active Yield Sources:</a:t>
            </a:r>
          </a:p>
          <a:p>
            <a:r>
              <a:t>- weETH 7.5%</a:t>
            </a:r>
          </a:p>
          <a:p>
            <a:r>
              <a:t>- Morpho Blue 10.5%</a:t>
            </a:r>
          </a:p>
          <a:p>
            <a:r>
              <a:t>- Aave v3 5.2%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7772400" cy="1645920"/>
          </a:xfrm>
          <a:prstGeom prst="roundRect">
            <a:avLst/>
          </a:prstGeom>
          <a:solidFill>
            <a:srgbClr val="D2FF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Recent Activity:</a:t>
            </a:r>
          </a:p>
          <a:p>
            <a:r>
              <a:t>Capital shift: 2,000 USDC</a:t>
            </a:r>
          </a:p>
          <a:p>
            <a:r>
              <a:t>Rewards harvested: $340</a:t>
            </a:r>
          </a:p>
          <a:p>
            <a:r>
              <a:t>Compounded back into LP position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141414"/>
                </a:solidFill>
              </a:defRPr>
            </a:pPr>
            <a:r>
              <a:t>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1371600"/>
          </a:xfrm>
          <a:prstGeom prst="roundRect">
            <a:avLst/>
          </a:prstGeom>
          <a:solidFill>
            <a:srgbClr val="FF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Before YieldShift:</a:t>
            </a:r>
          </a:p>
          <a:p>
            <a:r>
              <a:t>2% APY (swap fees only)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188720"/>
            <a:ext cx="3657600" cy="1371600"/>
          </a:xfrm>
          <a:prstGeom prst="roundRect">
            <a:avLst/>
          </a:prstGeom>
          <a:solidFill>
            <a:srgbClr val="D2FF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After YieldShift:</a:t>
            </a:r>
          </a:p>
          <a:p>
            <a:r>
              <a:t>10% APY (fees + yield)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7772400" cy="73152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Set-and-forget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7772400" cy="73152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No staking or wrappers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7772400" cy="73152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100% liquid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7772400" cy="73152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Diversified yield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7772400" cy="73152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Triggered by trading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141414"/>
                </a:solidFill>
              </a:defRPr>
            </a:pPr>
            <a:r>
              <a:t>YieldShift – Try It Now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7772400" cy="1188720"/>
          </a:xfrm>
          <a:prstGeom prst="roundRect">
            <a:avLst/>
          </a:prstGeom>
          <a:solidFill>
            <a:srgbClr val="D2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Features:</a:t>
            </a:r>
          </a:p>
          <a:p>
            <a:r>
              <a:t>• Valid Uniswap v4 Hook</a:t>
            </a:r>
          </a:p>
          <a:p>
            <a:r>
              <a:t>• EigenLayer Integrated</a:t>
            </a:r>
          </a:p>
          <a:p>
            <a:r>
              <a:t>• 97.8% Test Coverage</a:t>
            </a:r>
          </a:p>
          <a:p>
            <a:r>
              <a:t>• 9.2/10 Security Score</a:t>
            </a:r>
          </a:p>
          <a:p>
            <a:r>
              <a:t>• Fully Open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7772400" cy="1371600"/>
          </a:xfrm>
          <a:prstGeom prst="round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GitHub Repository:</a:t>
            </a:r>
          </a:p>
          <a:p>
            <a:r>
              <a:t>github.com/Sandijigs/yeildshift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